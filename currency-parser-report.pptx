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89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Parser: мониторинг и профилирование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2560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этапов 1–4 (Prometheus/Grafana + JVM profiling)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5943600" cy="868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6347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Артефакты: графики метрик, скриншоты VisualVM, heap dump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945341"/>
            <a:ext cx="4709160" cy="33079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Снимок экрана 2026-02-27 1536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2523785"/>
            <a:ext cx="4654296" cy="2176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6263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данных: Prometheus • Визуализация: Grafana • Профилирование: VisualVM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и методика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мерили и как подтверждали гипотезы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1780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Снимок экрана 2026-03-01 1828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2" y="1610941"/>
            <a:ext cx="6935455" cy="436763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097280"/>
            <a:ext cx="3611880" cy="5394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8202168" y="1261872"/>
            <a:ext cx="3209544" cy="2601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графики в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(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ru-RU" sz="16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</a:t>
            </a: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репозиторию: сколько и как долго выполняются вызовы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Профилирование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</a:t>
            </a: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VisualVM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CPU/GC/heap/threads</a:t>
            </a: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оптимизации: сравнение “до/после”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 </a:t>
            </a:r>
            <a:r>
              <a:rPr lang="ru-RU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Доступность сервиса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Контроль: сервис отвечает, краткие падения совпадают с перезапуском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11018520" cy="443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Снимок экрана 2026-02-27 1536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73" y="1124712"/>
            <a:ext cx="10052095" cy="42361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0288" y="5738846"/>
            <a:ext cx="11018520" cy="685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5715986"/>
            <a:ext cx="1061618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 норме метрика доступности держится около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Провалы до 0 — признак рестарта/пересборки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Сравнение этапов делаем на стабильном участке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 </a:t>
            </a:r>
            <a:r>
              <a:rPr lang="ru-RU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JVM: CPU/GC/Heap/Threads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Проверка, что проблема не в ресурсах JVM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4523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Снимок экрана 2026-03-01 1503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49779"/>
            <a:ext cx="7397496" cy="40899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097280"/>
            <a:ext cx="3337560" cy="5394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76488" y="1261872"/>
            <a:ext cx="2935224" cy="5065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на CPU низкая, заметной активности GC нет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heap стабильное, без характерной “пилы” → GC не под давлением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потоков держится ровно → признаков утечек или разгона пула нет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Вероятный источник задержек: I/O (БД/сеть) либо логика/алгоритм обработки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 </a:t>
            </a:r>
            <a:r>
              <a:rPr lang="ru-RU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Heap dump: структура памяти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удерживает память и есть ли признаки утечек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4523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Снимок экрана 2026-03-01 1524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95675"/>
            <a:ext cx="7397496" cy="39981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097280"/>
            <a:ext cx="3337560" cy="5394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76488" y="1261872"/>
            <a:ext cx="2935224" cy="5065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объёму памяти лидируют byte[] и String - ожидаемо для Spring-приложения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доминаторах - типичные объекты Spring-контекста / загрузчиков классов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Подозрительных “тяжёлых” доминаторов не обнаружено (признаков явной утечки не видно)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 анализа: слой I/O - запросы к БД и логика обновления данных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— Время обновления курсов (baseline)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585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среднее и “хвост” (p95)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11018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Снимок экрана 2026-02-27 1537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32" y="1124712"/>
            <a:ext cx="9925775" cy="47000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5942345"/>
            <a:ext cx="11018520" cy="7955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4846" y="5983493"/>
            <a:ext cx="1061618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</a:t>
            </a:r>
            <a:r>
              <a:rPr lang="ru-RU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типичное время операции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 </a:t>
            </a:r>
            <a:r>
              <a:rPr lang="ru-RU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задержки в худших 5% случаев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 baseline latency заметная и есть “хвост”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 — Частота вызовов репозитория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585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методам видно, где “горит”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11018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этап4до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78" y="1124712"/>
            <a:ext cx="9926485" cy="47000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6007608"/>
            <a:ext cx="11018520" cy="76971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7755" y="6046963"/>
            <a:ext cx="1061618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increase(count) показывает, сколько раз вызвали метод за окно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Пики по existsBy… → много мелких проверок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save/saveAll не доминируют по частоте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 — “Горячий” метод: existsBy…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7"/>
            <a:ext cx="11185855" cy="365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на оптимизацию алгоритма и батчирование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4523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этап4до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16607"/>
            <a:ext cx="7397496" cy="35563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097280"/>
            <a:ext cx="3337560" cy="5394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76488" y="1261872"/>
            <a:ext cx="2935224" cy="5065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existsByCodeAndAsOfDate даёт выраженные пики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Часто значит цикл “проверка → запрос” по каждому элементу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Типовое решение: один батч-запрос вместо 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После правки повторяем замер latency (этап 4)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 — Результат (после изменений)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снизилась, сервис остаётся стабильным по JVM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5486400" cy="4532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этап4после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87296"/>
            <a:ext cx="5431536" cy="25748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097280"/>
            <a:ext cx="5349240" cy="4532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1" descr="/mnt/data/этап4после2.p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244645"/>
            <a:ext cx="5294376" cy="246014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" y="5811012"/>
            <a:ext cx="11018520" cy="685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8281" y="5813164"/>
            <a:ext cx="1061618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mean: ориентировочно ~0.18с → ~0.04с (ускорение в 4–5 раз)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p95: хвост стал ниже и ровнее (~0.09–0.11с)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GC/CPU по VisualVM не ухудшились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Calibri"/>
              </a:defRPr>
            </a:pPr>
            <a:r>
              <a:t>Этап 5 — Distributed tracing (Jaeger)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9166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Разложили</a:t>
            </a:r>
            <a:r>
              <a:rPr dirty="0"/>
              <a:t> scheduled update </a:t>
            </a:r>
            <a:r>
              <a:rPr dirty="0" err="1"/>
              <a:t>на</a:t>
            </a:r>
            <a:r>
              <a:rPr dirty="0"/>
              <a:t> spans и </a:t>
            </a:r>
            <a:r>
              <a:rPr dirty="0" err="1"/>
              <a:t>подтвердили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15568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44068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2631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Calibri"/>
              </a:defRPr>
            </a:pPr>
            <a:r>
              <a:rPr dirty="0" err="1"/>
              <a:t>Обзор</a:t>
            </a:r>
            <a:r>
              <a:rPr dirty="0"/>
              <a:t>: </a:t>
            </a:r>
            <a:r>
              <a:rPr dirty="0" err="1"/>
              <a:t>распределение</a:t>
            </a:r>
            <a:r>
              <a:rPr dirty="0"/>
              <a:t> </a:t>
            </a:r>
            <a:r>
              <a:rPr dirty="0" err="1"/>
              <a:t>длительностей</a:t>
            </a:r>
            <a:r>
              <a:rPr dirty="0"/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143000"/>
            <a:ext cx="544068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Calibri"/>
              </a:defRPr>
            </a:pPr>
            <a:r>
              <a:t>Детально: пример одного trace (waterfall)</a:t>
            </a:r>
          </a:p>
        </p:txBody>
      </p:sp>
      <p:pic>
        <p:nvPicPr>
          <p:cNvPr id="9" name="Picture 8" descr="Снимок экрана 2026-03-01 1907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58615"/>
            <a:ext cx="4983480" cy="1283570"/>
          </a:xfrm>
          <a:prstGeom prst="rect">
            <a:avLst/>
          </a:prstGeom>
        </p:spPr>
      </p:pic>
      <p:pic>
        <p:nvPicPr>
          <p:cNvPr id="10" name="Picture 9" descr="Снимок экрана 2026-03-01 190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81129"/>
            <a:ext cx="4983480" cy="22385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074920"/>
            <a:ext cx="111556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9866227" cy="12772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scheduled-update: ~80</a:t>
            </a:r>
            <a:r>
              <a:rPr lang="ru-RU" dirty="0"/>
              <a:t>-</a:t>
            </a:r>
            <a:r>
              <a:rPr dirty="0"/>
              <a:t>120мс (</a:t>
            </a:r>
            <a:r>
              <a:rPr dirty="0" err="1"/>
              <a:t>пример</a:t>
            </a:r>
            <a:r>
              <a:rPr dirty="0"/>
              <a:t>: 83.39мс), 23 spans, depth 6</a:t>
            </a:r>
          </a:p>
          <a:p>
            <a:pPr>
              <a:spcAft>
                <a:spcPts val="2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вклад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cbr.fetch</a:t>
            </a:r>
            <a:r>
              <a:rPr dirty="0"/>
              <a:t>-daily (~60.65мс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примере</a:t>
            </a:r>
            <a:r>
              <a:rPr dirty="0"/>
              <a:t>), </a:t>
            </a:r>
            <a:r>
              <a:rPr dirty="0" err="1"/>
              <a:t>операции</a:t>
            </a:r>
            <a:r>
              <a:rPr dirty="0"/>
              <a:t> БД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единицы</a:t>
            </a:r>
            <a:r>
              <a:rPr dirty="0"/>
              <a:t> </a:t>
            </a:r>
            <a:r>
              <a:rPr dirty="0" err="1"/>
              <a:t>миллисекунд</a:t>
            </a:r>
            <a:endParaRPr dirty="0"/>
          </a:p>
          <a:p>
            <a:pPr>
              <a:spcAft>
                <a:spcPts val="2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• В </a:t>
            </a:r>
            <a:r>
              <a:rPr dirty="0" err="1"/>
              <a:t>выборке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редкие</a:t>
            </a:r>
            <a:r>
              <a:rPr dirty="0"/>
              <a:t> </a:t>
            </a:r>
            <a:r>
              <a:rPr dirty="0" err="1"/>
              <a:t>выбросы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~1с → </a:t>
            </a:r>
            <a:r>
              <a:rPr dirty="0" err="1"/>
              <a:t>кандидаты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алерт</a:t>
            </a:r>
            <a:r>
              <a:rPr dirty="0"/>
              <a:t>/</a:t>
            </a:r>
            <a:r>
              <a:rPr dirty="0" err="1"/>
              <a:t>доп</a:t>
            </a:r>
            <a:r>
              <a:rPr dirty="0"/>
              <a:t>. </a:t>
            </a:r>
            <a:r>
              <a:rPr dirty="0" err="1"/>
              <a:t>диагностику</a:t>
            </a:r>
            <a:endParaRPr dirty="0"/>
          </a:p>
          <a:p>
            <a:pPr>
              <a:spcAft>
                <a:spcPts val="2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Трейс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метрики</a:t>
            </a:r>
            <a:r>
              <a:rPr dirty="0"/>
              <a:t> Grafana: latency </a:t>
            </a:r>
            <a:r>
              <a:rPr dirty="0" err="1"/>
              <a:t>снизилась</a:t>
            </a:r>
            <a:r>
              <a:rPr dirty="0"/>
              <a:t>, а </a:t>
            </a:r>
            <a:r>
              <a:rPr dirty="0" err="1"/>
              <a:t>нагрузка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JVM/GC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выросла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039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70329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87832" y="627529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доказали метриками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44200" cy="4892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00200"/>
            <a:ext cx="9966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Наблюдаемость: latency (mean/p95) + метрики репозитория + базовые JVM-метрики.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Узкое место было не в CPU/GC/heap, а в паттерне доступа к БД (частые existsBy… проверки).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Оптимизация подтверждена: mean ускорился примерно в 4–5 раз, p95 стал стабильнее.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JVM-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сохранилась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Артефакты: /mnt/data/gc.log • /mnt/data/snapshot-1772367193978.nps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651</Words>
  <Application>Microsoft Office PowerPoint</Application>
  <PresentationFormat>Widescreen</PresentationFormat>
  <Paragraphs>75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Petrichor</cp:lastModifiedBy>
  <cp:revision>4</cp:revision>
  <dcterms:created xsi:type="dcterms:W3CDTF">2026-03-01T16:16:07Z</dcterms:created>
  <dcterms:modified xsi:type="dcterms:W3CDTF">2026-03-01T17:16:14Z</dcterms:modified>
</cp:coreProperties>
</file>